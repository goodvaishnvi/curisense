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loud Lucent Bold" panose="020B0604020202020204" charset="0"/>
      <p:regular r:id="rId11"/>
    </p:embeddedFont>
    <p:embeddedFont>
      <p:font typeface="Glacial Indifference" panose="020B0604020202020204" charset="0"/>
      <p:regular r:id="rId12"/>
    </p:embeddedFont>
    <p:embeddedFont>
      <p:font typeface="Glacial Indifference Bold" panose="020B0604020202020204" charset="0"/>
      <p:regular r:id="rId13"/>
    </p:embeddedFont>
    <p:embeddedFont>
      <p:font typeface="Tomorrow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jpe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2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3.png"/><Relationship Id="rId7" Type="http://schemas.openxmlformats.org/officeDocument/2006/relationships/image" Target="../media/image2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7381" y="2444991"/>
            <a:ext cx="6759130" cy="4094416"/>
            <a:chOff x="0" y="0"/>
            <a:chExt cx="9012174" cy="54592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12174" cy="5459222"/>
            </a:xfrm>
            <a:custGeom>
              <a:avLst/>
              <a:gdLst/>
              <a:ahLst/>
              <a:cxnLst/>
              <a:rect l="l" t="t" r="r" b="b"/>
              <a:pathLst>
                <a:path w="9012174" h="5459222">
                  <a:moveTo>
                    <a:pt x="0" y="0"/>
                  </a:moveTo>
                  <a:lnTo>
                    <a:pt x="9012174" y="0"/>
                  </a:lnTo>
                  <a:lnTo>
                    <a:pt x="9012174" y="5459222"/>
                  </a:lnTo>
                  <a:lnTo>
                    <a:pt x="0" y="5459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" r="-4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12058" y="6796697"/>
            <a:ext cx="6754178" cy="2576894"/>
            <a:chOff x="0" y="0"/>
            <a:chExt cx="9005570" cy="34358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05570" cy="3435858"/>
            </a:xfrm>
            <a:custGeom>
              <a:avLst/>
              <a:gdLst/>
              <a:ahLst/>
              <a:cxnLst/>
              <a:rect l="l" t="t" r="r" b="b"/>
              <a:pathLst>
                <a:path w="9005570" h="3435858">
                  <a:moveTo>
                    <a:pt x="0" y="0"/>
                  </a:moveTo>
                  <a:lnTo>
                    <a:pt x="9005570" y="0"/>
                  </a:lnTo>
                  <a:lnTo>
                    <a:pt x="9005570" y="3435858"/>
                  </a:lnTo>
                  <a:lnTo>
                    <a:pt x="0" y="3435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" b="-10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049348" y="6602854"/>
            <a:ext cx="3074003" cy="3278410"/>
            <a:chOff x="0" y="0"/>
            <a:chExt cx="4098671" cy="43712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98671" cy="4371213"/>
            </a:xfrm>
            <a:custGeom>
              <a:avLst/>
              <a:gdLst/>
              <a:ahLst/>
              <a:cxnLst/>
              <a:rect l="l" t="t" r="r" b="b"/>
              <a:pathLst>
                <a:path w="4098671" h="4371213">
                  <a:moveTo>
                    <a:pt x="0" y="0"/>
                  </a:moveTo>
                  <a:lnTo>
                    <a:pt x="4098671" y="0"/>
                  </a:lnTo>
                  <a:lnTo>
                    <a:pt x="4098671" y="4371213"/>
                  </a:lnTo>
                  <a:lnTo>
                    <a:pt x="0" y="4371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" b="-2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8603990" y="4806648"/>
            <a:ext cx="1348102" cy="1460497"/>
          </a:xfrm>
          <a:custGeom>
            <a:avLst/>
            <a:gdLst/>
            <a:ahLst/>
            <a:cxnLst/>
            <a:rect l="l" t="t" r="r" b="b"/>
            <a:pathLst>
              <a:path w="1348102" h="1460497">
                <a:moveTo>
                  <a:pt x="0" y="0"/>
                </a:moveTo>
                <a:lnTo>
                  <a:pt x="1348101" y="0"/>
                </a:lnTo>
                <a:lnTo>
                  <a:pt x="1348101" y="1460497"/>
                </a:lnTo>
                <a:lnTo>
                  <a:pt x="0" y="1460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2" b="-5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1" r="-8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6" b="-2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516692" y="8438064"/>
            <a:ext cx="2771775" cy="1849117"/>
          </a:xfrm>
          <a:custGeom>
            <a:avLst/>
            <a:gdLst/>
            <a:ahLst/>
            <a:cxnLst/>
            <a:rect l="l" t="t" r="r" b="b"/>
            <a:pathLst>
              <a:path w="2771775" h="1849117">
                <a:moveTo>
                  <a:pt x="0" y="0"/>
                </a:moveTo>
                <a:lnTo>
                  <a:pt x="2771775" y="0"/>
                </a:lnTo>
                <a:lnTo>
                  <a:pt x="2771775" y="1849117"/>
                </a:lnTo>
                <a:lnTo>
                  <a:pt x="0" y="1849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23" b="-22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5" r="-4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19" y="3589496"/>
            <a:ext cx="511807" cy="511807"/>
          </a:xfrm>
          <a:custGeom>
            <a:avLst/>
            <a:gdLst/>
            <a:ahLst/>
            <a:cxnLst/>
            <a:rect l="l" t="t" r="r" b="b"/>
            <a:pathLst>
              <a:path w="511807" h="511807">
                <a:moveTo>
                  <a:pt x="0" y="0"/>
                </a:moveTo>
                <a:lnTo>
                  <a:pt x="511807" y="0"/>
                </a:lnTo>
                <a:lnTo>
                  <a:pt x="511807" y="511807"/>
                </a:lnTo>
                <a:lnTo>
                  <a:pt x="0" y="511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16" b="-11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813519" y="294180"/>
            <a:ext cx="2316099" cy="1133094"/>
            <a:chOff x="0" y="0"/>
            <a:chExt cx="3088132" cy="15107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241" b="-24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938628" y="486451"/>
            <a:ext cx="2974658" cy="884492"/>
            <a:chOff x="0" y="0"/>
            <a:chExt cx="3966210" cy="11793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76" r="-176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740416" y="2948778"/>
            <a:ext cx="8297809" cy="379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•Problem Statement ID – 13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•Problem Statement Title- Epilepsy </a:t>
            </a:r>
            <a:r>
              <a:rPr lang="en-IN" sz="2400" dirty="0"/>
              <a:t>Detection</a:t>
            </a: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using IoT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•Team ID- IoT - 6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•Team Name- Curious Minds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3240"/>
              </a:lnSpc>
            </a:pPr>
            <a:r>
              <a:rPr lang="en-US" sz="2700" spc="-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•Mentor name- Dr Bhagyashree </a:t>
            </a:r>
            <a:r>
              <a:rPr lang="en-US" sz="2700" spc="-1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Dhakulkar</a:t>
            </a:r>
            <a:endParaRPr lang="en-US" sz="2700" spc="-1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 spc="-1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70456" y="-81772"/>
            <a:ext cx="2020086" cy="10338640"/>
            <a:chOff x="0" y="0"/>
            <a:chExt cx="224687" cy="1149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687" cy="1149928"/>
            </a:xfrm>
            <a:custGeom>
              <a:avLst/>
              <a:gdLst/>
              <a:ahLst/>
              <a:cxnLst/>
              <a:rect l="l" t="t" r="r" b="b"/>
              <a:pathLst>
                <a:path w="224687" h="1149928">
                  <a:moveTo>
                    <a:pt x="0" y="0"/>
                  </a:moveTo>
                  <a:lnTo>
                    <a:pt x="224687" y="0"/>
                  </a:lnTo>
                  <a:lnTo>
                    <a:pt x="224687" y="1149928"/>
                  </a:lnTo>
                  <a:lnTo>
                    <a:pt x="0" y="1149928"/>
                  </a:lnTo>
                  <a:close/>
                </a:path>
              </a:pathLst>
            </a:custGeom>
            <a:solidFill>
              <a:srgbClr val="0D58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24687" cy="1226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73971" y="1782243"/>
            <a:ext cx="4478228" cy="108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72"/>
              </a:lnSpc>
            </a:pPr>
            <a:r>
              <a:rPr lang="en-US" sz="6857" b="1" spc="425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5467" y="3561592"/>
            <a:ext cx="14049058" cy="6695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3435" b="1">
                <a:solidFill>
                  <a:srgbClr val="2020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Primary Objective</a:t>
            </a:r>
          </a:p>
          <a:p>
            <a:pPr marL="741743" lvl="1" indent="-370871" algn="l">
              <a:lnSpc>
                <a:spcPts val="4053"/>
              </a:lnSpc>
              <a:buFont typeface="Arial"/>
              <a:buChar char="•"/>
            </a:pPr>
            <a:r>
              <a:rPr lang="en-US" sz="343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develop a wearable IoT-based healthcare system that continuously monitors physiological parameters and predicts potential epileptic seizures while providing immediate alerts to caregivers and nearby people.</a:t>
            </a:r>
          </a:p>
          <a:p>
            <a:pPr algn="l">
              <a:lnSpc>
                <a:spcPts val="4053"/>
              </a:lnSpc>
            </a:pPr>
            <a:endParaRPr lang="en-US" sz="3435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053"/>
              </a:lnSpc>
            </a:pPr>
            <a:r>
              <a:rPr lang="en-US" sz="3435" b="1">
                <a:solidFill>
                  <a:srgbClr val="2020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Specific Objectives</a:t>
            </a:r>
          </a:p>
          <a:p>
            <a:pPr marL="741743" lvl="1" indent="-370871" algn="l">
              <a:lnSpc>
                <a:spcPts val="4053"/>
              </a:lnSpc>
              <a:buFont typeface="Arial"/>
              <a:buChar char="•"/>
            </a:pPr>
            <a:r>
              <a:rPr lang="en-US" sz="343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 heart rate and body movement using wearable sensors.</a:t>
            </a:r>
          </a:p>
          <a:p>
            <a:pPr marL="741743" lvl="1" indent="-370871" algn="l">
              <a:lnSpc>
                <a:spcPts val="4053"/>
              </a:lnSpc>
              <a:buFont typeface="Arial"/>
              <a:buChar char="•"/>
            </a:pPr>
            <a:r>
              <a:rPr lang="en-US" sz="343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Detect abnormal patterns associated with seizure events.</a:t>
            </a:r>
          </a:p>
          <a:p>
            <a:pPr marL="741743" lvl="1" indent="-370871" algn="l">
              <a:lnSpc>
                <a:spcPts val="4053"/>
              </a:lnSpc>
              <a:buFont typeface="Arial"/>
              <a:buChar char="•"/>
            </a:pPr>
            <a:r>
              <a:rPr lang="en-US" sz="343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Transmit real-time data to a mobile application and cloud platform.</a:t>
            </a:r>
          </a:p>
          <a:p>
            <a:pPr marL="741743" lvl="1" indent="-370871" algn="l">
              <a:lnSpc>
                <a:spcPts val="4053"/>
              </a:lnSpc>
              <a:buFont typeface="Arial"/>
              <a:buChar char="•"/>
            </a:pPr>
            <a:r>
              <a:rPr lang="en-US" sz="343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emergency alerts through a buzzer and mobile notifications.</a:t>
            </a:r>
          </a:p>
          <a:p>
            <a:pPr marL="741743" lvl="1" indent="-370871" algn="l">
              <a:lnSpc>
                <a:spcPts val="4053"/>
              </a:lnSpc>
              <a:buFont typeface="Arial"/>
              <a:buChar char="•"/>
            </a:pPr>
            <a:r>
              <a:rPr lang="en-US" sz="343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Store patient data for remote monitoring and future analysis.</a:t>
            </a:r>
          </a:p>
          <a:p>
            <a:pPr algn="l">
              <a:lnSpc>
                <a:spcPts val="4053"/>
              </a:lnSpc>
            </a:pPr>
            <a:endParaRPr lang="en-US" sz="3435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1028700" y="1830498"/>
            <a:ext cx="17206" cy="1041674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5801951" y="183593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6" y="0"/>
                </a:lnTo>
                <a:lnTo>
                  <a:pt x="2745946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4" y="-191173"/>
            <a:ext cx="3046302" cy="1718834"/>
          </a:xfrm>
          <a:custGeom>
            <a:avLst/>
            <a:gdLst/>
            <a:ahLst/>
            <a:cxnLst/>
            <a:rect l="l" t="t" r="r" b="b"/>
            <a:pathLst>
              <a:path w="3046302" h="1718834">
                <a:moveTo>
                  <a:pt x="0" y="0"/>
                </a:moveTo>
                <a:lnTo>
                  <a:pt x="3046302" y="0"/>
                </a:lnTo>
                <a:lnTo>
                  <a:pt x="3046302" y="1718834"/>
                </a:lnTo>
                <a:lnTo>
                  <a:pt x="0" y="171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303546" y="367185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3"/>
                </a:lnTo>
                <a:lnTo>
                  <a:pt x="0" y="976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88096" y="2089831"/>
            <a:ext cx="0" cy="1312168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4874357" y="4363603"/>
            <a:ext cx="4100117" cy="7020668"/>
            <a:chOff x="0" y="0"/>
            <a:chExt cx="456041" cy="7808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041" cy="780883"/>
            </a:xfrm>
            <a:custGeom>
              <a:avLst/>
              <a:gdLst/>
              <a:ahLst/>
              <a:cxnLst/>
              <a:rect l="l" t="t" r="r" b="b"/>
              <a:pathLst>
                <a:path w="456041" h="780883">
                  <a:moveTo>
                    <a:pt x="0" y="0"/>
                  </a:moveTo>
                  <a:lnTo>
                    <a:pt x="456041" y="0"/>
                  </a:lnTo>
                  <a:lnTo>
                    <a:pt x="456041" y="780883"/>
                  </a:lnTo>
                  <a:lnTo>
                    <a:pt x="0" y="780883"/>
                  </a:lnTo>
                  <a:close/>
                </a:path>
              </a:pathLst>
            </a:custGeom>
            <a:solidFill>
              <a:srgbClr val="0D588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456041" cy="85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51780" y="4363603"/>
            <a:ext cx="4100117" cy="6766714"/>
            <a:chOff x="0" y="0"/>
            <a:chExt cx="456041" cy="75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6041" cy="752636"/>
            </a:xfrm>
            <a:custGeom>
              <a:avLst/>
              <a:gdLst/>
              <a:ahLst/>
              <a:cxnLst/>
              <a:rect l="l" t="t" r="r" b="b"/>
              <a:pathLst>
                <a:path w="456041" h="752636">
                  <a:moveTo>
                    <a:pt x="0" y="0"/>
                  </a:moveTo>
                  <a:lnTo>
                    <a:pt x="456041" y="0"/>
                  </a:lnTo>
                  <a:lnTo>
                    <a:pt x="456041" y="752636"/>
                  </a:lnTo>
                  <a:lnTo>
                    <a:pt x="0" y="752636"/>
                  </a:lnTo>
                  <a:close/>
                </a:path>
              </a:pathLst>
            </a:custGeom>
            <a:solidFill>
              <a:srgbClr val="0D588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456041" cy="828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601502" y="173073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5" y="0"/>
                </a:lnTo>
                <a:lnTo>
                  <a:pt x="2745945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9046" y="173073"/>
            <a:ext cx="3046302" cy="1718834"/>
          </a:xfrm>
          <a:custGeom>
            <a:avLst/>
            <a:gdLst/>
            <a:ahLst/>
            <a:cxnLst/>
            <a:rect l="l" t="t" r="r" b="b"/>
            <a:pathLst>
              <a:path w="3046302" h="1718834">
                <a:moveTo>
                  <a:pt x="0" y="0"/>
                </a:moveTo>
                <a:lnTo>
                  <a:pt x="3046303" y="0"/>
                </a:lnTo>
                <a:lnTo>
                  <a:pt x="3046303" y="1718834"/>
                </a:lnTo>
                <a:lnTo>
                  <a:pt x="0" y="171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12505" y="540259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2"/>
                </a:lnTo>
                <a:lnTo>
                  <a:pt x="0" y="976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45388" y="2185501"/>
            <a:ext cx="4783993" cy="1054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4"/>
              </a:lnSpc>
            </a:pPr>
            <a:r>
              <a:rPr lang="en-US" sz="6491" b="1" spc="402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388" y="4420166"/>
            <a:ext cx="1976369" cy="136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5"/>
              </a:lnSpc>
            </a:pPr>
            <a:r>
              <a:rPr lang="en-US" sz="8556" b="1" spc="530">
                <a:solidFill>
                  <a:srgbClr val="0D588D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016008"/>
            <a:ext cx="2786649" cy="35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7334" lvl="1" indent="-223667" algn="l">
              <a:lnSpc>
                <a:spcPts val="2900"/>
              </a:lnSpc>
              <a:buFont typeface="Arial"/>
              <a:buChar char="•"/>
            </a:pPr>
            <a:r>
              <a:rPr lang="en-US" sz="2071" b="1">
                <a:solidFill>
                  <a:srgbClr val="2020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Included Features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911375"/>
            <a:ext cx="3221152" cy="320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Wearable health monitoring device.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Heart rate monitoring.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Motion and fall detection.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Bluetooth connectivity with mobile application.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Cloud-based data storage.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AI-based seizure prediction.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Emergency alarm system.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Mobile notifications to caregivers.</a:t>
            </a:r>
          </a:p>
          <a:p>
            <a:pPr algn="just">
              <a:lnSpc>
                <a:spcPts val="2124"/>
              </a:lnSpc>
            </a:pPr>
            <a:endParaRPr lang="en-US" sz="1800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190725" y="6016008"/>
            <a:ext cx="3062874" cy="35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7334" lvl="1" indent="-223667" algn="l">
              <a:lnSpc>
                <a:spcPts val="2900"/>
              </a:lnSpc>
              <a:buFont typeface="Arial"/>
              <a:buChar char="•"/>
            </a:pPr>
            <a:r>
              <a:rPr lang="en-US" sz="2071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Application Domain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13840" y="6911375"/>
            <a:ext cx="3221152" cy="133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Healthcare Monitoring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Smart Wearable Technology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IoT-based Healthcare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Telemedicine</a:t>
            </a:r>
          </a:p>
          <a:p>
            <a:pPr algn="just">
              <a:lnSpc>
                <a:spcPts val="2124"/>
              </a:lnSpc>
            </a:pPr>
            <a:endParaRPr lang="en-US" sz="180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59365" y="6032405"/>
            <a:ext cx="2786649" cy="35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7334" lvl="1" indent="-223667" algn="l">
              <a:lnSpc>
                <a:spcPts val="2900"/>
              </a:lnSpc>
              <a:buFont typeface="Arial"/>
              <a:buChar char="•"/>
            </a:pPr>
            <a:r>
              <a:rPr lang="en-US" sz="2071" b="1">
                <a:solidFill>
                  <a:srgbClr val="20201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Beneficiaries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25803" y="6911375"/>
            <a:ext cx="3221152" cy="160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Epilepsy patients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Elderly individuals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Caregivers and family members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Healthcare professionals</a:t>
            </a:r>
          </a:p>
          <a:p>
            <a:pPr algn="just">
              <a:lnSpc>
                <a:spcPts val="2124"/>
              </a:lnSpc>
            </a:pPr>
            <a:endParaRPr lang="en-US" sz="1800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517613" y="6016008"/>
            <a:ext cx="2786649" cy="35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7334" lvl="1" indent="-223667" algn="l">
              <a:lnSpc>
                <a:spcPts val="2900"/>
              </a:lnSpc>
              <a:buFont typeface="Arial"/>
              <a:buChar char="•"/>
            </a:pPr>
            <a:r>
              <a:rPr lang="en-US" sz="2071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Scope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90702" y="6911375"/>
            <a:ext cx="3221152" cy="267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GPS-based location tracking.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Smartwatch integration.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Advanced deep learning models.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Hospital information system integration.</a:t>
            </a:r>
          </a:p>
          <a:p>
            <a:pPr marL="388620" lvl="1" indent="-194310" algn="just">
              <a:lnSpc>
                <a:spcPts val="21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Real-time doctor dashboard.</a:t>
            </a:r>
          </a:p>
          <a:p>
            <a:pPr algn="just">
              <a:lnSpc>
                <a:spcPts val="2124"/>
              </a:lnSpc>
            </a:pPr>
            <a:endParaRPr lang="en-US" sz="180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95111" y="4420166"/>
            <a:ext cx="1976369" cy="136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5"/>
              </a:lnSpc>
            </a:pPr>
            <a:r>
              <a:rPr lang="en-US" sz="8556" b="1" spc="530">
                <a:solidFill>
                  <a:srgbClr val="FFFFFF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25803" y="4420166"/>
            <a:ext cx="1976369" cy="136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5"/>
              </a:lnSpc>
            </a:pPr>
            <a:r>
              <a:rPr lang="en-US" sz="8556" b="1" spc="530">
                <a:solidFill>
                  <a:srgbClr val="0D588D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90702" y="4420166"/>
            <a:ext cx="1976369" cy="136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5"/>
              </a:lnSpc>
            </a:pPr>
            <a:r>
              <a:rPr lang="en-US" sz="8556" b="1" spc="530">
                <a:solidFill>
                  <a:srgbClr val="FFFFFF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09533" y="1997199"/>
            <a:ext cx="5333670" cy="8289801"/>
            <a:chOff x="0" y="0"/>
            <a:chExt cx="826325" cy="12843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6325" cy="1284307"/>
            </a:xfrm>
            <a:custGeom>
              <a:avLst/>
              <a:gdLst/>
              <a:ahLst/>
              <a:cxnLst/>
              <a:rect l="l" t="t" r="r" b="b"/>
              <a:pathLst>
                <a:path w="826325" h="1284307">
                  <a:moveTo>
                    <a:pt x="0" y="0"/>
                  </a:moveTo>
                  <a:lnTo>
                    <a:pt x="826325" y="0"/>
                  </a:lnTo>
                  <a:lnTo>
                    <a:pt x="826325" y="1284307"/>
                  </a:lnTo>
                  <a:lnTo>
                    <a:pt x="0" y="1284307"/>
                  </a:lnTo>
                  <a:close/>
                </a:path>
              </a:pathLst>
            </a:custGeom>
            <a:blipFill>
              <a:blip r:embed="rId2"/>
              <a:stretch>
                <a:fillRect l="-1807" r="-1807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flipV="1">
            <a:off x="952910" y="1997199"/>
            <a:ext cx="0" cy="1312168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415693" y="1940049"/>
            <a:ext cx="5190769" cy="113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7"/>
              </a:lnSpc>
            </a:pPr>
            <a:r>
              <a:rPr lang="en-US" sz="7102" b="1" spc="440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5793" y="3602499"/>
            <a:ext cx="11519920" cy="668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825" lvl="1" indent="-344413" algn="l">
              <a:lnSpc>
                <a:spcPts val="3764"/>
              </a:lnSpc>
              <a:buFont typeface="Arial"/>
              <a:buChar char="•"/>
            </a:pPr>
            <a:r>
              <a:rPr lang="en-US" sz="319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Epilepsy seizures occur suddenly and can cause serious injuries or health risks.</a:t>
            </a:r>
          </a:p>
          <a:p>
            <a:pPr marL="688825" lvl="1" indent="-344413" algn="l">
              <a:lnSpc>
                <a:spcPts val="3764"/>
              </a:lnSpc>
              <a:buFont typeface="Arial"/>
              <a:buChar char="•"/>
            </a:pPr>
            <a:r>
              <a:rPr lang="en-US" sz="319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Continuous monitoring by doctors or caregivers is difficult and expensive.</a:t>
            </a:r>
          </a:p>
          <a:p>
            <a:pPr marL="688825" lvl="1" indent="-344413" algn="l">
              <a:lnSpc>
                <a:spcPts val="3764"/>
              </a:lnSpc>
              <a:buFont typeface="Arial"/>
              <a:buChar char="•"/>
            </a:pPr>
            <a:r>
              <a:rPr lang="en-US" sz="319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systems are complex, less portable, and do not provide real-time alerts.</a:t>
            </a:r>
          </a:p>
          <a:p>
            <a:pPr marL="688825" lvl="1" indent="-344413" algn="l">
              <a:lnSpc>
                <a:spcPts val="3764"/>
              </a:lnSpc>
              <a:buFont typeface="Arial"/>
              <a:buChar char="•"/>
            </a:pPr>
            <a:r>
              <a:rPr lang="en-US" sz="319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There is a need for a smart, low-cost, and IoT-based healthcare solution for early seizure prediction.</a:t>
            </a:r>
          </a:p>
          <a:p>
            <a:pPr marL="688825" lvl="1" indent="-344413" algn="l">
              <a:lnSpc>
                <a:spcPts val="3764"/>
              </a:lnSpc>
              <a:buFont typeface="Arial"/>
              <a:buChar char="•"/>
            </a:pPr>
            <a:r>
              <a:rPr lang="en-US" sz="319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project can improve patient safety, provide quick medical assistance, and support remote healthcare monitoring.</a:t>
            </a:r>
          </a:p>
          <a:p>
            <a:pPr marL="688825" lvl="1" indent="-344413" algn="l">
              <a:lnSpc>
                <a:spcPts val="3764"/>
              </a:lnSpc>
              <a:buFont typeface="Arial"/>
              <a:buChar char="•"/>
            </a:pPr>
            <a:r>
              <a:rPr lang="en-US" sz="3190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project was selected to use modern IoT technology for solving real-life healthcare problems and improving the quality of life of epilepsy patients.</a:t>
            </a:r>
          </a:p>
          <a:p>
            <a:pPr algn="l">
              <a:lnSpc>
                <a:spcPts val="3764"/>
              </a:lnSpc>
            </a:pPr>
            <a:endParaRPr lang="en-US" sz="3190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226214" y="9309157"/>
            <a:ext cx="535644" cy="607431"/>
          </a:xfrm>
          <a:custGeom>
            <a:avLst/>
            <a:gdLst/>
            <a:ahLst/>
            <a:cxnLst/>
            <a:rect l="l" t="t" r="r" b="b"/>
            <a:pathLst>
              <a:path w="535644" h="607431">
                <a:moveTo>
                  <a:pt x="0" y="0"/>
                </a:moveTo>
                <a:lnTo>
                  <a:pt x="535644" y="0"/>
                </a:lnTo>
                <a:lnTo>
                  <a:pt x="535644" y="607431"/>
                </a:lnTo>
                <a:lnTo>
                  <a:pt x="0" y="6074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235878" y="222643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3"/>
                </a:lnTo>
                <a:lnTo>
                  <a:pt x="0" y="976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71027" y="0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6" y="0"/>
                </a:lnTo>
                <a:lnTo>
                  <a:pt x="2745946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-148332"/>
            <a:ext cx="3046302" cy="1718834"/>
          </a:xfrm>
          <a:custGeom>
            <a:avLst/>
            <a:gdLst/>
            <a:ahLst/>
            <a:cxnLst/>
            <a:rect l="l" t="t" r="r" b="b"/>
            <a:pathLst>
              <a:path w="3046302" h="1718834">
                <a:moveTo>
                  <a:pt x="0" y="0"/>
                </a:moveTo>
                <a:lnTo>
                  <a:pt x="3046302" y="0"/>
                </a:lnTo>
                <a:lnTo>
                  <a:pt x="3046302" y="1718834"/>
                </a:lnTo>
                <a:lnTo>
                  <a:pt x="0" y="1718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744393" y="1784769"/>
            <a:ext cx="0" cy="1524670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718094"/>
            <a:ext cx="9655938" cy="1054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4"/>
              </a:lnSpc>
            </a:pPr>
            <a:r>
              <a:rPr lang="en-US" sz="6491" b="1" spc="402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LITERATURE SURVEY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15541"/>
            <a:ext cx="3280394" cy="393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468" b="1" spc="153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Existing Research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393" y="3930679"/>
            <a:ext cx="3280394" cy="38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368" b="1" spc="146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Research Paper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50672" y="3930679"/>
            <a:ext cx="3280394" cy="38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368" b="1" spc="146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Research Paper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06066" y="3930679"/>
            <a:ext cx="3280394" cy="38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368" b="1" spc="146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Research Paper 3</a:t>
            </a:r>
          </a:p>
        </p:txBody>
      </p:sp>
      <p:sp>
        <p:nvSpPr>
          <p:cNvPr id="8" name="Freeform 8"/>
          <p:cNvSpPr/>
          <p:nvPr/>
        </p:nvSpPr>
        <p:spPr>
          <a:xfrm>
            <a:off x="7601502" y="173073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5" y="0"/>
                </a:lnTo>
                <a:lnTo>
                  <a:pt x="2745945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8571" y="173073"/>
            <a:ext cx="3046302" cy="1718834"/>
          </a:xfrm>
          <a:custGeom>
            <a:avLst/>
            <a:gdLst/>
            <a:ahLst/>
            <a:cxnLst/>
            <a:rect l="l" t="t" r="r" b="b"/>
            <a:pathLst>
              <a:path w="3046302" h="1718834">
                <a:moveTo>
                  <a:pt x="0" y="0"/>
                </a:moveTo>
                <a:lnTo>
                  <a:pt x="3046303" y="0"/>
                </a:lnTo>
                <a:lnTo>
                  <a:pt x="3046303" y="1718834"/>
                </a:lnTo>
                <a:lnTo>
                  <a:pt x="0" y="171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412505" y="540259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2"/>
                </a:lnTo>
                <a:lnTo>
                  <a:pt x="0" y="976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69046" y="4477611"/>
            <a:ext cx="4997207" cy="7020668"/>
            <a:chOff x="0" y="0"/>
            <a:chExt cx="555821" cy="7808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5821" cy="780883"/>
            </a:xfrm>
            <a:custGeom>
              <a:avLst/>
              <a:gdLst/>
              <a:ahLst/>
              <a:cxnLst/>
              <a:rect l="l" t="t" r="r" b="b"/>
              <a:pathLst>
                <a:path w="555821" h="780883">
                  <a:moveTo>
                    <a:pt x="0" y="0"/>
                  </a:moveTo>
                  <a:lnTo>
                    <a:pt x="555821" y="0"/>
                  </a:lnTo>
                  <a:lnTo>
                    <a:pt x="555821" y="780883"/>
                  </a:lnTo>
                  <a:lnTo>
                    <a:pt x="0" y="780883"/>
                  </a:lnTo>
                  <a:close/>
                </a:path>
              </a:pathLst>
            </a:custGeom>
            <a:solidFill>
              <a:srgbClr val="0D58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555821" cy="85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61658" y="4565234"/>
            <a:ext cx="5289257" cy="1127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368" b="1" spc="146">
                <a:solidFill>
                  <a:srgbClr val="FFFFFF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IoT-Based Epileptic Seizure Monitoring Systems</a:t>
            </a:r>
          </a:p>
          <a:p>
            <a:pPr algn="l">
              <a:lnSpc>
                <a:spcPts val="2961"/>
              </a:lnSpc>
            </a:pPr>
            <a:endParaRPr lang="en-US" sz="2368" b="1" spc="146">
              <a:solidFill>
                <a:srgbClr val="FFFFFF"/>
              </a:solidFill>
              <a:latin typeface="Cloud Lucent Bold"/>
              <a:ea typeface="Cloud Lucent Bold"/>
              <a:cs typeface="Cloud Lucent Bold"/>
              <a:sym typeface="Cloud Lucen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61658" y="5855116"/>
            <a:ext cx="4714095" cy="300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4"/>
              </a:lnSpc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Approach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Wearable sensors.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Real-time health monitoring.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Cloud connectivity.</a:t>
            </a:r>
          </a:p>
          <a:p>
            <a:pPr algn="just">
              <a:lnSpc>
                <a:spcPts val="2674"/>
              </a:lnSpc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Limitation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Limited prediction capability.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Focuses mainly on seizure detection.</a:t>
            </a:r>
          </a:p>
          <a:p>
            <a:pPr algn="just">
              <a:lnSpc>
                <a:spcPts val="2674"/>
              </a:lnSpc>
            </a:pPr>
            <a:endParaRPr lang="en-US" sz="2266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424184" y="4477611"/>
            <a:ext cx="5152066" cy="7020668"/>
            <a:chOff x="0" y="0"/>
            <a:chExt cx="573045" cy="7808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3045" cy="780883"/>
            </a:xfrm>
            <a:custGeom>
              <a:avLst/>
              <a:gdLst/>
              <a:ahLst/>
              <a:cxnLst/>
              <a:rect l="l" t="t" r="r" b="b"/>
              <a:pathLst>
                <a:path w="573045" h="780883">
                  <a:moveTo>
                    <a:pt x="0" y="0"/>
                  </a:moveTo>
                  <a:lnTo>
                    <a:pt x="573045" y="0"/>
                  </a:lnTo>
                  <a:lnTo>
                    <a:pt x="573045" y="780883"/>
                  </a:lnTo>
                  <a:lnTo>
                    <a:pt x="0" y="780883"/>
                  </a:lnTo>
                  <a:close/>
                </a:path>
              </a:pathLst>
            </a:custGeom>
            <a:solidFill>
              <a:srgbClr val="0D588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573045" cy="85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565740" y="4559738"/>
            <a:ext cx="5289257" cy="756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368" b="1" spc="146">
                <a:solidFill>
                  <a:srgbClr val="FFFFFF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Machine Learning for Epileptic Seizure Prediction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65740" y="5687695"/>
            <a:ext cx="4714095" cy="33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4"/>
              </a:lnSpc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Approach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EEG signal analysis.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Random Forest and SVM algorithms.</a:t>
            </a:r>
          </a:p>
          <a:p>
            <a:pPr algn="just">
              <a:lnSpc>
                <a:spcPts val="2674"/>
              </a:lnSpc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Limitation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Requires expensive EEG equipment.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Not suitable for daily wearable use.</a:t>
            </a:r>
          </a:p>
          <a:p>
            <a:pPr algn="just">
              <a:lnSpc>
                <a:spcPts val="2674"/>
              </a:lnSpc>
            </a:pPr>
            <a:endParaRPr lang="en-US" sz="2266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2506066" y="4477611"/>
            <a:ext cx="5152066" cy="7020668"/>
            <a:chOff x="0" y="0"/>
            <a:chExt cx="573045" cy="7808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3045" cy="780883"/>
            </a:xfrm>
            <a:custGeom>
              <a:avLst/>
              <a:gdLst/>
              <a:ahLst/>
              <a:cxnLst/>
              <a:rect l="l" t="t" r="r" b="b"/>
              <a:pathLst>
                <a:path w="573045" h="780883">
                  <a:moveTo>
                    <a:pt x="0" y="0"/>
                  </a:moveTo>
                  <a:lnTo>
                    <a:pt x="573045" y="0"/>
                  </a:lnTo>
                  <a:lnTo>
                    <a:pt x="573045" y="780883"/>
                  </a:lnTo>
                  <a:lnTo>
                    <a:pt x="0" y="780883"/>
                  </a:lnTo>
                  <a:close/>
                </a:path>
              </a:pathLst>
            </a:custGeom>
            <a:solidFill>
              <a:srgbClr val="0D588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573045" cy="85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55097" y="4559738"/>
            <a:ext cx="5289257" cy="756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368" b="1" spc="146">
                <a:solidFill>
                  <a:srgbClr val="FFFFFF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Deep Learning-Based Seizure Prediction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25051" y="5715492"/>
            <a:ext cx="4714095" cy="233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4"/>
              </a:lnSpc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Approach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CNN and LSTM networks.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prediction accuracy.</a:t>
            </a:r>
          </a:p>
          <a:p>
            <a:pPr algn="just">
              <a:lnSpc>
                <a:spcPts val="2674"/>
              </a:lnSpc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Limitation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computational requirements.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Large datasets needed.</a:t>
            </a:r>
          </a:p>
          <a:p>
            <a:pPr algn="just">
              <a:lnSpc>
                <a:spcPts val="2674"/>
              </a:lnSpc>
            </a:pPr>
            <a:endParaRPr lang="en-US" sz="2266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25343" y="1960441"/>
            <a:ext cx="0" cy="1312168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5741243" y="3272609"/>
            <a:ext cx="28575" cy="6439496"/>
          </a:xfrm>
          <a:prstGeom prst="line">
            <a:avLst/>
          </a:prstGeom>
          <a:ln w="57150" cap="flat">
            <a:solidFill>
              <a:srgbClr val="0D588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193878" y="3112114"/>
            <a:ext cx="5596887" cy="3148249"/>
          </a:xfrm>
          <a:custGeom>
            <a:avLst/>
            <a:gdLst/>
            <a:ahLst/>
            <a:cxnLst/>
            <a:rect l="l" t="t" r="r" b="b"/>
            <a:pathLst>
              <a:path w="5596887" h="3148249">
                <a:moveTo>
                  <a:pt x="0" y="0"/>
                </a:moveTo>
                <a:lnTo>
                  <a:pt x="5596887" y="0"/>
                </a:lnTo>
                <a:lnTo>
                  <a:pt x="5596887" y="3148249"/>
                </a:lnTo>
                <a:lnTo>
                  <a:pt x="0" y="3148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93878" y="6222030"/>
            <a:ext cx="5596887" cy="3490074"/>
          </a:xfrm>
          <a:custGeom>
            <a:avLst/>
            <a:gdLst/>
            <a:ahLst/>
            <a:cxnLst/>
            <a:rect l="l" t="t" r="r" b="b"/>
            <a:pathLst>
              <a:path w="5596887" h="3490074">
                <a:moveTo>
                  <a:pt x="0" y="0"/>
                </a:moveTo>
                <a:lnTo>
                  <a:pt x="5596887" y="0"/>
                </a:lnTo>
                <a:lnTo>
                  <a:pt x="5596887" y="3490074"/>
                </a:lnTo>
                <a:lnTo>
                  <a:pt x="0" y="3490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5" t="-11966" r="-6221" b="-914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2910" y="1876401"/>
            <a:ext cx="9633815" cy="1054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4"/>
              </a:lnSpc>
            </a:pPr>
            <a:r>
              <a:rPr lang="en-US" sz="6491" b="1" spc="402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LITERATURE SURVEY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2910" y="3930679"/>
            <a:ext cx="3280394" cy="43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668" b="1" spc="165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Existing Products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5343" y="4606183"/>
            <a:ext cx="4714095" cy="47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956" lvl="1" indent="-255478" algn="l">
              <a:lnSpc>
                <a:spcPts val="2792"/>
              </a:lnSpc>
              <a:buAutoNum type="arabicPeriod"/>
            </a:pPr>
            <a:r>
              <a:rPr lang="en-US" sz="23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Empatica Embrace Watch</a:t>
            </a:r>
          </a:p>
          <a:p>
            <a:pPr algn="l">
              <a:lnSpc>
                <a:spcPts val="2792"/>
              </a:lnSpc>
            </a:pPr>
            <a:endParaRPr lang="en-US" sz="2366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Wearable seizure detection device.</a:t>
            </a:r>
          </a:p>
          <a:p>
            <a:pPr marL="489366" lvl="1" indent="-244683" algn="just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Smartwatch-based monitoring.</a:t>
            </a:r>
          </a:p>
          <a:p>
            <a:pPr algn="just">
              <a:lnSpc>
                <a:spcPts val="2674"/>
              </a:lnSpc>
            </a:pPr>
            <a:endParaRPr lang="en-US" sz="2266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89366" lvl="1" indent="-244683" algn="l">
              <a:lnSpc>
                <a:spcPts val="2674"/>
              </a:lnSpc>
              <a:buAutoNum type="arabicPeriod"/>
            </a:pPr>
            <a:r>
              <a:rPr lang="en-US" sz="22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Smart Health Bands</a:t>
            </a:r>
          </a:p>
          <a:p>
            <a:pPr algn="l">
              <a:lnSpc>
                <a:spcPts val="2674"/>
              </a:lnSpc>
            </a:pPr>
            <a:endParaRPr lang="en-US" sz="2266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89366" lvl="1" indent="-244683" algn="l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 heart rate and physical activity.</a:t>
            </a:r>
          </a:p>
          <a:p>
            <a:pPr marL="489366" lvl="1" indent="-244683" algn="l">
              <a:lnSpc>
                <a:spcPts val="2674"/>
              </a:lnSpc>
              <a:buFont typeface="Arial"/>
              <a:buChar char="•"/>
            </a:pPr>
            <a:r>
              <a:rPr lang="en-US" sz="22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Lack seizure prediction capabilities.</a:t>
            </a:r>
          </a:p>
          <a:p>
            <a:pPr algn="l">
              <a:lnSpc>
                <a:spcPts val="2674"/>
              </a:lnSpc>
            </a:pPr>
            <a:endParaRPr lang="en-US" sz="2266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3146"/>
              </a:lnSpc>
            </a:pPr>
            <a:endParaRPr lang="en-US" sz="2266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656506" y="3930679"/>
            <a:ext cx="3280394" cy="43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668" b="1" spc="165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Research Gap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28940" y="4606183"/>
            <a:ext cx="4714095" cy="356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956" lvl="1" indent="-255478" algn="l">
              <a:lnSpc>
                <a:spcPts val="2792"/>
              </a:lnSpc>
              <a:buAutoNum type="arabicPeriod"/>
            </a:pPr>
            <a:r>
              <a:rPr lang="en-US" sz="23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Current solutions often:</a:t>
            </a:r>
          </a:p>
          <a:p>
            <a:pPr marL="510956" lvl="1" indent="-255478" algn="l">
              <a:lnSpc>
                <a:spcPts val="2792"/>
              </a:lnSpc>
              <a:buAutoNum type="arabicPeriod"/>
            </a:pPr>
            <a:r>
              <a:rPr lang="en-US" sz="23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Depend on expensive medical equipment.</a:t>
            </a:r>
          </a:p>
          <a:p>
            <a:pPr marL="510956" lvl="1" indent="-255478" algn="l">
              <a:lnSpc>
                <a:spcPts val="2792"/>
              </a:lnSpc>
              <a:buAutoNum type="arabicPeriod"/>
            </a:pPr>
            <a:r>
              <a:rPr lang="en-US" sz="23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Focus on detection rather than prediction.</a:t>
            </a:r>
          </a:p>
          <a:p>
            <a:pPr marL="510956" lvl="1" indent="-255478" algn="l">
              <a:lnSpc>
                <a:spcPts val="2792"/>
              </a:lnSpc>
              <a:buAutoNum type="arabicPeriod"/>
            </a:pPr>
            <a:r>
              <a:rPr lang="en-US" sz="23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Lack affordable cloud-connected wearable solutions.</a:t>
            </a:r>
          </a:p>
          <a:p>
            <a:pPr marL="510956" lvl="1" indent="-255478" algn="l">
              <a:lnSpc>
                <a:spcPts val="2792"/>
              </a:lnSpc>
              <a:buAutoNum type="arabicPeriod"/>
            </a:pPr>
            <a:r>
              <a:rPr lang="en-US" sz="236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 not provide comprehensive emergency alert mechanisms.</a:t>
            </a:r>
          </a:p>
          <a:p>
            <a:pPr algn="just">
              <a:lnSpc>
                <a:spcPts val="3146"/>
              </a:lnSpc>
            </a:pPr>
            <a:endParaRPr lang="en-US" sz="2366">
              <a:solidFill>
                <a:srgbClr val="20201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1" name="AutoShape 11"/>
          <p:cNvSpPr/>
          <p:nvPr/>
        </p:nvSpPr>
        <p:spPr>
          <a:xfrm flipH="1" flipV="1">
            <a:off x="12095565" y="3272482"/>
            <a:ext cx="28575" cy="6439496"/>
          </a:xfrm>
          <a:prstGeom prst="line">
            <a:avLst/>
          </a:prstGeom>
          <a:ln w="57150" cap="flat">
            <a:solidFill>
              <a:srgbClr val="0D588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769046" y="173073"/>
            <a:ext cx="3046302" cy="1718834"/>
          </a:xfrm>
          <a:custGeom>
            <a:avLst/>
            <a:gdLst/>
            <a:ahLst/>
            <a:cxnLst/>
            <a:rect l="l" t="t" r="r" b="b"/>
            <a:pathLst>
              <a:path w="3046302" h="1718834">
                <a:moveTo>
                  <a:pt x="0" y="0"/>
                </a:moveTo>
                <a:lnTo>
                  <a:pt x="3046303" y="0"/>
                </a:lnTo>
                <a:lnTo>
                  <a:pt x="3046303" y="1718834"/>
                </a:lnTo>
                <a:lnTo>
                  <a:pt x="0" y="1718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01502" y="173073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5" y="0"/>
                </a:lnTo>
                <a:lnTo>
                  <a:pt x="2745945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412505" y="540259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2"/>
                </a:lnTo>
                <a:lnTo>
                  <a:pt x="0" y="9768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88096" y="1028700"/>
            <a:ext cx="0" cy="2108725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4412505" y="540259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2"/>
                </a:lnTo>
                <a:lnTo>
                  <a:pt x="0" y="97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01502" y="173073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5" y="0"/>
                </a:lnTo>
                <a:lnTo>
                  <a:pt x="2745945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3668" y="540259"/>
            <a:ext cx="3046302" cy="976883"/>
          </a:xfrm>
          <a:custGeom>
            <a:avLst/>
            <a:gdLst/>
            <a:ahLst/>
            <a:cxnLst/>
            <a:rect l="l" t="t" r="r" b="b"/>
            <a:pathLst>
              <a:path w="3046302" h="976883">
                <a:moveTo>
                  <a:pt x="0" y="0"/>
                </a:moveTo>
                <a:lnTo>
                  <a:pt x="3046302" y="0"/>
                </a:lnTo>
                <a:lnTo>
                  <a:pt x="3046302" y="976882"/>
                </a:lnTo>
                <a:lnTo>
                  <a:pt x="0" y="976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7587" b="-3836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22370" y="3137425"/>
            <a:ext cx="3443260" cy="7207204"/>
          </a:xfrm>
          <a:custGeom>
            <a:avLst/>
            <a:gdLst/>
            <a:ahLst/>
            <a:cxnLst/>
            <a:rect l="l" t="t" r="r" b="b"/>
            <a:pathLst>
              <a:path w="3443260" h="7207204">
                <a:moveTo>
                  <a:pt x="0" y="0"/>
                </a:moveTo>
                <a:lnTo>
                  <a:pt x="3443260" y="0"/>
                </a:lnTo>
                <a:lnTo>
                  <a:pt x="3443260" y="7207204"/>
                </a:lnTo>
                <a:lnTo>
                  <a:pt x="0" y="7207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834" t="-5354" r="-40477" b="-2394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0519" y="3693500"/>
            <a:ext cx="916363" cy="864713"/>
          </a:xfrm>
          <a:custGeom>
            <a:avLst/>
            <a:gdLst/>
            <a:ahLst/>
            <a:cxnLst/>
            <a:rect l="l" t="t" r="r" b="b"/>
            <a:pathLst>
              <a:path w="916363" h="864713">
                <a:moveTo>
                  <a:pt x="0" y="0"/>
                </a:moveTo>
                <a:lnTo>
                  <a:pt x="916362" y="0"/>
                </a:lnTo>
                <a:lnTo>
                  <a:pt x="916362" y="864713"/>
                </a:lnTo>
                <a:lnTo>
                  <a:pt x="0" y="8647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42722" y="5043608"/>
            <a:ext cx="2075468" cy="415094"/>
          </a:xfrm>
          <a:custGeom>
            <a:avLst/>
            <a:gdLst/>
            <a:ahLst/>
            <a:cxnLst/>
            <a:rect l="l" t="t" r="r" b="b"/>
            <a:pathLst>
              <a:path w="2075468" h="415094">
                <a:moveTo>
                  <a:pt x="0" y="0"/>
                </a:moveTo>
                <a:lnTo>
                  <a:pt x="2075468" y="0"/>
                </a:lnTo>
                <a:lnTo>
                  <a:pt x="2075468" y="415093"/>
                </a:lnTo>
                <a:lnTo>
                  <a:pt x="0" y="415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0519" y="5782553"/>
            <a:ext cx="2019875" cy="403975"/>
          </a:xfrm>
          <a:custGeom>
            <a:avLst/>
            <a:gdLst/>
            <a:ahLst/>
            <a:cxnLst/>
            <a:rect l="l" t="t" r="r" b="b"/>
            <a:pathLst>
              <a:path w="2019875" h="403975">
                <a:moveTo>
                  <a:pt x="0" y="0"/>
                </a:moveTo>
                <a:lnTo>
                  <a:pt x="2019874" y="0"/>
                </a:lnTo>
                <a:lnTo>
                  <a:pt x="2019874" y="403975"/>
                </a:lnTo>
                <a:lnTo>
                  <a:pt x="0" y="403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70519" y="8558253"/>
            <a:ext cx="2019875" cy="403975"/>
          </a:xfrm>
          <a:custGeom>
            <a:avLst/>
            <a:gdLst/>
            <a:ahLst/>
            <a:cxnLst/>
            <a:rect l="l" t="t" r="r" b="b"/>
            <a:pathLst>
              <a:path w="2019875" h="403975">
                <a:moveTo>
                  <a:pt x="0" y="0"/>
                </a:moveTo>
                <a:lnTo>
                  <a:pt x="2019874" y="0"/>
                </a:lnTo>
                <a:lnTo>
                  <a:pt x="2019874" y="403975"/>
                </a:lnTo>
                <a:lnTo>
                  <a:pt x="0" y="403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6944" y="7872453"/>
            <a:ext cx="2019875" cy="403975"/>
          </a:xfrm>
          <a:custGeom>
            <a:avLst/>
            <a:gdLst/>
            <a:ahLst/>
            <a:cxnLst/>
            <a:rect l="l" t="t" r="r" b="b"/>
            <a:pathLst>
              <a:path w="2019875" h="403975">
                <a:moveTo>
                  <a:pt x="0" y="0"/>
                </a:moveTo>
                <a:lnTo>
                  <a:pt x="2019875" y="0"/>
                </a:lnTo>
                <a:lnTo>
                  <a:pt x="2019875" y="403975"/>
                </a:lnTo>
                <a:lnTo>
                  <a:pt x="0" y="403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70519" y="7150954"/>
            <a:ext cx="2019875" cy="403975"/>
          </a:xfrm>
          <a:custGeom>
            <a:avLst/>
            <a:gdLst/>
            <a:ahLst/>
            <a:cxnLst/>
            <a:rect l="l" t="t" r="r" b="b"/>
            <a:pathLst>
              <a:path w="2019875" h="403975">
                <a:moveTo>
                  <a:pt x="0" y="0"/>
                </a:moveTo>
                <a:lnTo>
                  <a:pt x="2019874" y="0"/>
                </a:lnTo>
                <a:lnTo>
                  <a:pt x="2019874" y="403975"/>
                </a:lnTo>
                <a:lnTo>
                  <a:pt x="0" y="403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76944" y="6432654"/>
            <a:ext cx="2019875" cy="403975"/>
          </a:xfrm>
          <a:custGeom>
            <a:avLst/>
            <a:gdLst/>
            <a:ahLst/>
            <a:cxnLst/>
            <a:rect l="l" t="t" r="r" b="b"/>
            <a:pathLst>
              <a:path w="2019875" h="403975">
                <a:moveTo>
                  <a:pt x="0" y="0"/>
                </a:moveTo>
                <a:lnTo>
                  <a:pt x="2019875" y="0"/>
                </a:lnTo>
                <a:lnTo>
                  <a:pt x="2019875" y="403975"/>
                </a:lnTo>
                <a:lnTo>
                  <a:pt x="0" y="403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34820" y="3518457"/>
            <a:ext cx="1050667" cy="1039756"/>
          </a:xfrm>
          <a:custGeom>
            <a:avLst/>
            <a:gdLst/>
            <a:ahLst/>
            <a:cxnLst/>
            <a:rect l="l" t="t" r="r" b="b"/>
            <a:pathLst>
              <a:path w="1050667" h="1039756">
                <a:moveTo>
                  <a:pt x="0" y="0"/>
                </a:moveTo>
                <a:lnTo>
                  <a:pt x="1050667" y="0"/>
                </a:lnTo>
                <a:lnTo>
                  <a:pt x="1050667" y="1039756"/>
                </a:lnTo>
                <a:lnTo>
                  <a:pt x="0" y="1039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603639" y="5157828"/>
            <a:ext cx="662363" cy="1678801"/>
          </a:xfrm>
          <a:custGeom>
            <a:avLst/>
            <a:gdLst/>
            <a:ahLst/>
            <a:cxnLst/>
            <a:rect l="l" t="t" r="r" b="b"/>
            <a:pathLst>
              <a:path w="662363" h="1678801">
                <a:moveTo>
                  <a:pt x="0" y="0"/>
                </a:moveTo>
                <a:lnTo>
                  <a:pt x="662363" y="0"/>
                </a:lnTo>
                <a:lnTo>
                  <a:pt x="662363" y="1678801"/>
                </a:lnTo>
                <a:lnTo>
                  <a:pt x="0" y="1678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6219" y="1812202"/>
            <a:ext cx="8284331" cy="86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7"/>
              </a:lnSpc>
            </a:pPr>
            <a:r>
              <a:rPr lang="en-US" sz="6491" b="1" spc="402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Proposed Solution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7989" y="3942764"/>
            <a:ext cx="3628668" cy="476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5"/>
              </a:lnSpc>
              <a:spcBef>
                <a:spcPct val="0"/>
              </a:spcBef>
            </a:pPr>
            <a:r>
              <a:rPr lang="en-US" sz="3036" b="1" spc="18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Components Used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0519" y="5024558"/>
            <a:ext cx="6687503" cy="4233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Pulse Sensor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Monitors heart rate continuously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MPU6050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Detects abnormal body movements and falls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ESP32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Collects and transmits sensor data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Mobile App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Displays real-time health status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Cloud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Stores patient history and sensor data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AI Model</a:t>
            </a:r>
          </a:p>
          <a:p>
            <a:pPr algn="l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Predicts seizure risk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33137" y="3878267"/>
            <a:ext cx="2582108" cy="4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3"/>
              </a:lnSpc>
              <a:spcBef>
                <a:spcPct val="0"/>
              </a:spcBef>
            </a:pPr>
            <a:r>
              <a:rPr lang="en-US" sz="3019" b="1" spc="187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00877" y="5133975"/>
            <a:ext cx="4038719" cy="3871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7"/>
              </a:lnSpc>
              <a:spcBef>
                <a:spcPct val="0"/>
              </a:spcBef>
            </a:pPr>
            <a:r>
              <a:rPr lang="en-US" sz="2238" b="1" spc="13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Real-Time Monitoring</a:t>
            </a:r>
          </a:p>
          <a:p>
            <a:pPr algn="l">
              <a:lnSpc>
                <a:spcPts val="2797"/>
              </a:lnSpc>
              <a:spcBef>
                <a:spcPct val="0"/>
              </a:spcBef>
            </a:pPr>
            <a:endParaRPr lang="en-US" sz="2238" b="1" spc="138">
              <a:solidFill>
                <a:srgbClr val="091F4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2797"/>
              </a:lnSpc>
              <a:spcBef>
                <a:spcPct val="0"/>
              </a:spcBef>
            </a:pPr>
            <a:r>
              <a:rPr lang="en-US" sz="2238" b="1" spc="13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Wearable &amp; Portable</a:t>
            </a:r>
          </a:p>
          <a:p>
            <a:pPr algn="l">
              <a:lnSpc>
                <a:spcPts val="2797"/>
              </a:lnSpc>
              <a:spcBef>
                <a:spcPct val="0"/>
              </a:spcBef>
            </a:pPr>
            <a:endParaRPr lang="en-US" sz="2238" b="1" spc="138">
              <a:solidFill>
                <a:srgbClr val="091F4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2797"/>
              </a:lnSpc>
              <a:spcBef>
                <a:spcPct val="0"/>
              </a:spcBef>
            </a:pPr>
            <a:r>
              <a:rPr lang="en-US" sz="2238" b="1" spc="13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Wireless Connectivity</a:t>
            </a:r>
          </a:p>
          <a:p>
            <a:pPr algn="l">
              <a:lnSpc>
                <a:spcPts val="2797"/>
              </a:lnSpc>
              <a:spcBef>
                <a:spcPct val="0"/>
              </a:spcBef>
            </a:pPr>
            <a:endParaRPr lang="en-US" sz="2238" b="1" spc="138">
              <a:solidFill>
                <a:srgbClr val="091F4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2797"/>
              </a:lnSpc>
              <a:spcBef>
                <a:spcPct val="0"/>
              </a:spcBef>
            </a:pPr>
            <a:r>
              <a:rPr lang="en-US" sz="2238" b="1" spc="13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Cloud-Based Data Storage</a:t>
            </a:r>
          </a:p>
          <a:p>
            <a:pPr algn="l">
              <a:lnSpc>
                <a:spcPts val="2797"/>
              </a:lnSpc>
              <a:spcBef>
                <a:spcPct val="0"/>
              </a:spcBef>
            </a:pPr>
            <a:endParaRPr lang="en-US" sz="2238" b="1" spc="138">
              <a:solidFill>
                <a:srgbClr val="091F4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2797"/>
              </a:lnSpc>
              <a:spcBef>
                <a:spcPct val="0"/>
              </a:spcBef>
            </a:pPr>
            <a:r>
              <a:rPr lang="en-US" sz="2238" b="1" spc="13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AI-Assisted Prediction</a:t>
            </a:r>
          </a:p>
          <a:p>
            <a:pPr algn="l">
              <a:lnSpc>
                <a:spcPts val="2797"/>
              </a:lnSpc>
              <a:spcBef>
                <a:spcPct val="0"/>
              </a:spcBef>
            </a:pPr>
            <a:endParaRPr lang="en-US" sz="2238" b="1" spc="138">
              <a:solidFill>
                <a:srgbClr val="091F4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2797"/>
              </a:lnSpc>
              <a:spcBef>
                <a:spcPct val="0"/>
              </a:spcBef>
            </a:pPr>
            <a:r>
              <a:rPr lang="en-US" sz="2238" b="1" spc="138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Remote Patient Tracking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593944" y="7302591"/>
            <a:ext cx="672057" cy="1703371"/>
          </a:xfrm>
          <a:custGeom>
            <a:avLst/>
            <a:gdLst/>
            <a:ahLst/>
            <a:cxnLst/>
            <a:rect l="l" t="t" r="r" b="b"/>
            <a:pathLst>
              <a:path w="672057" h="1703371">
                <a:moveTo>
                  <a:pt x="0" y="0"/>
                </a:moveTo>
                <a:lnTo>
                  <a:pt x="672058" y="0"/>
                </a:lnTo>
                <a:lnTo>
                  <a:pt x="672058" y="1703371"/>
                </a:lnTo>
                <a:lnTo>
                  <a:pt x="0" y="1703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27641" y="2656488"/>
            <a:ext cx="8081486" cy="357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Proposed Smart Wearable Epilepsy Prediction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22668" y="1180476"/>
            <a:ext cx="2488732" cy="357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268" b="1" spc="140">
                <a:solidFill>
                  <a:srgbClr val="20201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Subtitle 01</a:t>
            </a:r>
          </a:p>
        </p:txBody>
      </p:sp>
      <p:sp>
        <p:nvSpPr>
          <p:cNvPr id="3" name="Freeform 3"/>
          <p:cNvSpPr/>
          <p:nvPr/>
        </p:nvSpPr>
        <p:spPr>
          <a:xfrm>
            <a:off x="14412505" y="540259"/>
            <a:ext cx="3280979" cy="976883"/>
          </a:xfrm>
          <a:custGeom>
            <a:avLst/>
            <a:gdLst/>
            <a:ahLst/>
            <a:cxnLst/>
            <a:rect l="l" t="t" r="r" b="b"/>
            <a:pathLst>
              <a:path w="3280979" h="976883">
                <a:moveTo>
                  <a:pt x="0" y="0"/>
                </a:moveTo>
                <a:lnTo>
                  <a:pt x="3280979" y="0"/>
                </a:lnTo>
                <a:lnTo>
                  <a:pt x="3280979" y="976882"/>
                </a:lnTo>
                <a:lnTo>
                  <a:pt x="0" y="97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01502" y="173073"/>
            <a:ext cx="2745946" cy="1344068"/>
          </a:xfrm>
          <a:custGeom>
            <a:avLst/>
            <a:gdLst/>
            <a:ahLst/>
            <a:cxnLst/>
            <a:rect l="l" t="t" r="r" b="b"/>
            <a:pathLst>
              <a:path w="2745946" h="1344068">
                <a:moveTo>
                  <a:pt x="0" y="0"/>
                </a:moveTo>
                <a:lnTo>
                  <a:pt x="2745945" y="0"/>
                </a:lnTo>
                <a:lnTo>
                  <a:pt x="2745945" y="1344068"/>
                </a:lnTo>
                <a:lnTo>
                  <a:pt x="0" y="1344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6219" y="169283"/>
            <a:ext cx="3046302" cy="1718834"/>
          </a:xfrm>
          <a:custGeom>
            <a:avLst/>
            <a:gdLst/>
            <a:ahLst/>
            <a:cxnLst/>
            <a:rect l="l" t="t" r="r" b="b"/>
            <a:pathLst>
              <a:path w="3046302" h="1718834">
                <a:moveTo>
                  <a:pt x="0" y="0"/>
                </a:moveTo>
                <a:lnTo>
                  <a:pt x="3046302" y="0"/>
                </a:lnTo>
                <a:lnTo>
                  <a:pt x="3046302" y="1718834"/>
                </a:lnTo>
                <a:lnTo>
                  <a:pt x="0" y="1718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788096" y="1028700"/>
            <a:ext cx="0" cy="2108725"/>
          </a:xfrm>
          <a:prstGeom prst="line">
            <a:avLst/>
          </a:prstGeom>
          <a:ln w="38100" cap="flat">
            <a:solidFill>
              <a:srgbClr val="091F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6437492" y="3013556"/>
            <a:ext cx="5746115" cy="7059186"/>
          </a:xfrm>
          <a:custGeom>
            <a:avLst/>
            <a:gdLst/>
            <a:ahLst/>
            <a:cxnLst/>
            <a:rect l="l" t="t" r="r" b="b"/>
            <a:pathLst>
              <a:path w="5746115" h="7059186">
                <a:moveTo>
                  <a:pt x="0" y="0"/>
                </a:moveTo>
                <a:lnTo>
                  <a:pt x="5746115" y="0"/>
                </a:lnTo>
                <a:lnTo>
                  <a:pt x="5746115" y="7059186"/>
                </a:lnTo>
                <a:lnTo>
                  <a:pt x="0" y="7059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4" b="-1353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2721" y="3918475"/>
            <a:ext cx="1360160" cy="1164791"/>
          </a:xfrm>
          <a:custGeom>
            <a:avLst/>
            <a:gdLst/>
            <a:ahLst/>
            <a:cxnLst/>
            <a:rect l="l" t="t" r="r" b="b"/>
            <a:pathLst>
              <a:path w="1360160" h="1164791">
                <a:moveTo>
                  <a:pt x="0" y="0"/>
                </a:moveTo>
                <a:lnTo>
                  <a:pt x="1360160" y="0"/>
                </a:lnTo>
                <a:lnTo>
                  <a:pt x="1360160" y="1164791"/>
                </a:lnTo>
                <a:lnTo>
                  <a:pt x="0" y="11647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1098202" y="5266467"/>
            <a:ext cx="0" cy="4013785"/>
          </a:xfrm>
          <a:prstGeom prst="line">
            <a:avLst/>
          </a:prstGeom>
          <a:ln w="114300" cap="flat">
            <a:solidFill>
              <a:srgbClr val="7C3B8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769465" y="5711171"/>
            <a:ext cx="657475" cy="65747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C0D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9996" y="6492471"/>
            <a:ext cx="657475" cy="65747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C0D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9465" y="7273359"/>
            <a:ext cx="657475" cy="65747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C0D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9996" y="8163490"/>
            <a:ext cx="657475" cy="65747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C0D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2000289" y="3862763"/>
            <a:ext cx="1283069" cy="1280737"/>
          </a:xfrm>
          <a:custGeom>
            <a:avLst/>
            <a:gdLst/>
            <a:ahLst/>
            <a:cxnLst/>
            <a:rect l="l" t="t" r="r" b="b"/>
            <a:pathLst>
              <a:path w="1283069" h="1280737">
                <a:moveTo>
                  <a:pt x="0" y="0"/>
                </a:moveTo>
                <a:lnTo>
                  <a:pt x="1283070" y="0"/>
                </a:lnTo>
                <a:lnTo>
                  <a:pt x="1283070" y="1280737"/>
                </a:lnTo>
                <a:lnTo>
                  <a:pt x="0" y="1280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000289" y="5266467"/>
            <a:ext cx="840876" cy="776663"/>
          </a:xfrm>
          <a:custGeom>
            <a:avLst/>
            <a:gdLst/>
            <a:ahLst/>
            <a:cxnLst/>
            <a:rect l="l" t="t" r="r" b="b"/>
            <a:pathLst>
              <a:path w="840876" h="776663">
                <a:moveTo>
                  <a:pt x="0" y="0"/>
                </a:moveTo>
                <a:lnTo>
                  <a:pt x="840876" y="0"/>
                </a:lnTo>
                <a:lnTo>
                  <a:pt x="840876" y="776664"/>
                </a:lnTo>
                <a:lnTo>
                  <a:pt x="0" y="776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26219" y="1812202"/>
            <a:ext cx="8284331" cy="86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7"/>
              </a:lnSpc>
            </a:pPr>
            <a:r>
              <a:rPr lang="en-US" sz="6491" b="1" spc="402">
                <a:solidFill>
                  <a:srgbClr val="091F4B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Proposed Solution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656488"/>
            <a:ext cx="6812518" cy="357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6"/>
              </a:lnSpc>
              <a:spcBef>
                <a:spcPct val="0"/>
              </a:spcBef>
            </a:pPr>
            <a:r>
              <a:rPr lang="en-US" sz="2268" b="1" spc="140">
                <a:solidFill>
                  <a:srgbClr val="091F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Working Methodology &amp; Emergency Response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82881" y="4206103"/>
            <a:ext cx="4483180" cy="5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039" b="1" spc="18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Detection Parameters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2077" y="5807166"/>
            <a:ext cx="4216598" cy="293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Heart Rate Variations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Abnormal Body Movements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Sudden Fall Detection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Continuous Monitoring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99509" y="4312612"/>
            <a:ext cx="3722132" cy="50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1"/>
              </a:lnSpc>
              <a:spcBef>
                <a:spcPct val="0"/>
              </a:spcBef>
            </a:pPr>
            <a:r>
              <a:rPr lang="en-US" sz="2958" b="1" spc="1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Emergency Actions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66859" y="5511101"/>
            <a:ext cx="4292441" cy="376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Loud Buzzer Alert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Instant Mobile Notification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Cloud Status Update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Caregiver Alert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358" b="1" spc="146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358" b="1" spc="14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Event Logging for Analysis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000289" y="6104139"/>
            <a:ext cx="840876" cy="776663"/>
          </a:xfrm>
          <a:custGeom>
            <a:avLst/>
            <a:gdLst/>
            <a:ahLst/>
            <a:cxnLst/>
            <a:rect l="l" t="t" r="r" b="b"/>
            <a:pathLst>
              <a:path w="840876" h="776663">
                <a:moveTo>
                  <a:pt x="0" y="0"/>
                </a:moveTo>
                <a:lnTo>
                  <a:pt x="840876" y="0"/>
                </a:lnTo>
                <a:lnTo>
                  <a:pt x="840876" y="776663"/>
                </a:lnTo>
                <a:lnTo>
                  <a:pt x="0" y="7766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000289" y="6937952"/>
            <a:ext cx="840876" cy="776663"/>
          </a:xfrm>
          <a:custGeom>
            <a:avLst/>
            <a:gdLst/>
            <a:ahLst/>
            <a:cxnLst/>
            <a:rect l="l" t="t" r="r" b="b"/>
            <a:pathLst>
              <a:path w="840876" h="776663">
                <a:moveTo>
                  <a:pt x="0" y="0"/>
                </a:moveTo>
                <a:lnTo>
                  <a:pt x="840876" y="0"/>
                </a:lnTo>
                <a:lnTo>
                  <a:pt x="840876" y="776664"/>
                </a:lnTo>
                <a:lnTo>
                  <a:pt x="0" y="776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000289" y="7771766"/>
            <a:ext cx="840876" cy="776663"/>
          </a:xfrm>
          <a:custGeom>
            <a:avLst/>
            <a:gdLst/>
            <a:ahLst/>
            <a:cxnLst/>
            <a:rect l="l" t="t" r="r" b="b"/>
            <a:pathLst>
              <a:path w="840876" h="776663">
                <a:moveTo>
                  <a:pt x="0" y="0"/>
                </a:moveTo>
                <a:lnTo>
                  <a:pt x="840876" y="0"/>
                </a:lnTo>
                <a:lnTo>
                  <a:pt x="840876" y="776663"/>
                </a:lnTo>
                <a:lnTo>
                  <a:pt x="0" y="7766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000289" y="8605579"/>
            <a:ext cx="840876" cy="776663"/>
          </a:xfrm>
          <a:custGeom>
            <a:avLst/>
            <a:gdLst/>
            <a:ahLst/>
            <a:cxnLst/>
            <a:rect l="l" t="t" r="r" b="b"/>
            <a:pathLst>
              <a:path w="840876" h="776663">
                <a:moveTo>
                  <a:pt x="0" y="0"/>
                </a:moveTo>
                <a:lnTo>
                  <a:pt x="840876" y="0"/>
                </a:lnTo>
                <a:lnTo>
                  <a:pt x="840876" y="776664"/>
                </a:lnTo>
                <a:lnTo>
                  <a:pt x="0" y="776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"/>
            <a:ext cx="18288000" cy="10276713"/>
            <a:chOff x="0" y="0"/>
            <a:chExt cx="3762963" cy="21145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2963" cy="2114550"/>
            </a:xfrm>
            <a:custGeom>
              <a:avLst/>
              <a:gdLst/>
              <a:ahLst/>
              <a:cxnLst/>
              <a:rect l="l" t="t" r="r" b="b"/>
              <a:pathLst>
                <a:path w="3762963" h="2114550">
                  <a:moveTo>
                    <a:pt x="0" y="0"/>
                  </a:moveTo>
                  <a:lnTo>
                    <a:pt x="3762963" y="0"/>
                  </a:lnTo>
                  <a:lnTo>
                    <a:pt x="3762963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0D588D">
                <a:alpha val="6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3762963" cy="219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4662851" flipH="1">
            <a:off x="12360210" y="-515646"/>
            <a:ext cx="6828664" cy="6058524"/>
          </a:xfrm>
          <a:custGeom>
            <a:avLst/>
            <a:gdLst/>
            <a:ahLst/>
            <a:cxnLst/>
            <a:rect l="l" t="t" r="r" b="b"/>
            <a:pathLst>
              <a:path w="6828664" h="6058524">
                <a:moveTo>
                  <a:pt x="6828664" y="0"/>
                </a:moveTo>
                <a:lnTo>
                  <a:pt x="0" y="0"/>
                </a:lnTo>
                <a:lnTo>
                  <a:pt x="0" y="6058524"/>
                </a:lnTo>
                <a:lnTo>
                  <a:pt x="6828664" y="6058524"/>
                </a:lnTo>
                <a:lnTo>
                  <a:pt x="6828664" y="0"/>
                </a:lnTo>
                <a:close/>
              </a:path>
            </a:pathLst>
          </a:custGeom>
          <a:blipFill>
            <a:blip r:embed="rId3"/>
            <a:stretch>
              <a:fillRect t="-35835" r="-29239"/>
            </a:stretch>
          </a:blipFill>
        </p:spPr>
      </p:sp>
      <p:sp>
        <p:nvSpPr>
          <p:cNvPr id="7" name="Freeform 7"/>
          <p:cNvSpPr/>
          <p:nvPr/>
        </p:nvSpPr>
        <p:spPr>
          <a:xfrm rot="3061027">
            <a:off x="-966211" y="2669029"/>
            <a:ext cx="7315156" cy="7112746"/>
          </a:xfrm>
          <a:custGeom>
            <a:avLst/>
            <a:gdLst/>
            <a:ahLst/>
            <a:cxnLst/>
            <a:rect l="l" t="t" r="r" b="b"/>
            <a:pathLst>
              <a:path w="7315156" h="7112746">
                <a:moveTo>
                  <a:pt x="0" y="0"/>
                </a:moveTo>
                <a:lnTo>
                  <a:pt x="7315156" y="0"/>
                </a:lnTo>
                <a:lnTo>
                  <a:pt x="7315156" y="7112746"/>
                </a:lnTo>
                <a:lnTo>
                  <a:pt x="0" y="7112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0644" b="-15702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27845" y="591412"/>
            <a:ext cx="17032311" cy="9114462"/>
            <a:chOff x="0" y="0"/>
            <a:chExt cx="4485876" cy="24005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85876" cy="2400517"/>
            </a:xfrm>
            <a:custGeom>
              <a:avLst/>
              <a:gdLst/>
              <a:ahLst/>
              <a:cxnLst/>
              <a:rect l="l" t="t" r="r" b="b"/>
              <a:pathLst>
                <a:path w="4485876" h="2400517">
                  <a:moveTo>
                    <a:pt x="432585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40497"/>
                  </a:lnTo>
                  <a:lnTo>
                    <a:pt x="160020" y="2400517"/>
                  </a:lnTo>
                  <a:lnTo>
                    <a:pt x="4325856" y="2400517"/>
                  </a:lnTo>
                  <a:lnTo>
                    <a:pt x="4485876" y="2240497"/>
                  </a:lnTo>
                  <a:lnTo>
                    <a:pt x="4485876" y="160020"/>
                  </a:lnTo>
                  <a:lnTo>
                    <a:pt x="4325856" y="0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500" y="-12700"/>
              <a:ext cx="4358876" cy="2349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2276" y="3313453"/>
            <a:ext cx="15003447" cy="234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86"/>
              </a:lnSpc>
            </a:pPr>
            <a:r>
              <a:rPr lang="en-US" sz="14549" b="1" spc="902">
                <a:solidFill>
                  <a:srgbClr val="FFFFFF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98845" y="5961782"/>
            <a:ext cx="8290310" cy="512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6"/>
              </a:lnSpc>
            </a:pPr>
            <a:r>
              <a:rPr lang="en-US" sz="3654" spc="325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MEDICAL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44240" y="6766672"/>
            <a:ext cx="11199519" cy="109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654" spc="236">
                <a:solidFill>
                  <a:srgbClr val="20201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Lorem ipsum dolor sit amet, consectetur adipiscing elit. Praesent nec lectus sagittis, gravida elit quis, dapibus ante. Sed in nunc enim.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610</Words>
  <Application>Microsoft Office PowerPoint</Application>
  <PresentationFormat>Custom</PresentationFormat>
  <Paragraphs>151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Glacial Indifference</vt:lpstr>
      <vt:lpstr>Tomorrow</vt:lpstr>
      <vt:lpstr>Cloud Lucent Bold</vt:lpstr>
      <vt:lpstr>Calibri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Healthcare Presentation</dc:title>
  <dc:creator>Vaishnavi Surwase</dc:creator>
  <cp:lastModifiedBy>Vaishnavi Surwase</cp:lastModifiedBy>
  <cp:revision>3</cp:revision>
  <dcterms:created xsi:type="dcterms:W3CDTF">2006-08-16T00:00:00Z</dcterms:created>
  <dcterms:modified xsi:type="dcterms:W3CDTF">2026-07-27T16:52:27Z</dcterms:modified>
  <dc:identifier>DAHLKGZCbsg</dc:identifier>
</cp:coreProperties>
</file>